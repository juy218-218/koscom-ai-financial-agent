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Noto Sans KR" panose="020B0200000000000000" pitchFamily="50" charset="-127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6901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03189"/>
            <a:ext cx="1179016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6901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05732" y="4745235"/>
            <a:ext cx="9525" cy="409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79753" y="4745235"/>
            <a:ext cx="9525" cy="409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2217539"/>
            <a:ext cx="9901237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Noto Sans KR"/>
              </a:rPr>
              <a:t>금융 지식 RAG &amp; MCP AI Agent </a:t>
            </a:r>
            <a:r>
              <a:t>
</a:t>
            </a:r>
            <a:r>
              <a:rPr sz="3450" b="1" i="0" u="none">
                <a:solidFill>
                  <a:srgbClr val="38BDF8"/>
                </a:solidFill>
                <a:latin typeface="Noto Sans KR"/>
              </a:rPr>
              <a:t>koscom-ai-financial-agent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59360"/>
            <a:ext cx="8477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Noto Sans KR"/>
              </a:rPr>
              <a:t>자본시장 공시·규정 검색, 연산 도구 연동 및 Docker 인프라 기반 실전 금융 AI 에이전트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760339"/>
            <a:ext cx="100756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Noto Sans KR"/>
              </a:rPr>
              <a:t>과제 제출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2916" y="1760339"/>
            <a:ext cx="347327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코스콤 2026년 하반기 신입 AI 분야 포트폴리오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45235"/>
            <a:ext cx="261416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제출자 / 지원 분야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54785"/>
            <a:ext cx="200856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F1F5F9"/>
                </a:solidFill>
                <a:latin typeface="Noto Sans KR"/>
              </a:rPr>
              <a:t>지원자</a:t>
            </a:r>
            <a:r>
              <a:rPr sz="1200" b="1" i="0" u="none" dirty="0">
                <a:solidFill>
                  <a:srgbClr val="F1F5F9"/>
                </a:solidFill>
                <a:latin typeface="Noto Sans KR"/>
              </a:rPr>
              <a:t> </a:t>
            </a:r>
            <a:r>
              <a:rPr lang="ko-KR" altLang="en-US" sz="1200" b="1" dirty="0">
                <a:solidFill>
                  <a:srgbClr val="F1F5F9"/>
                </a:solidFill>
                <a:latin typeface="Noto Sans KR"/>
              </a:rPr>
              <a:t>윤주영</a:t>
            </a:r>
            <a:r>
              <a:rPr sz="1200" b="1" i="0" u="none" dirty="0">
                <a:solidFill>
                  <a:srgbClr val="F1F5F9"/>
                </a:solidFill>
                <a:latin typeface="Noto Sans KR"/>
              </a:rPr>
              <a:t> · </a:t>
            </a:r>
            <a:r>
              <a:rPr sz="1200" b="1" i="0" u="none" dirty="0" err="1">
                <a:solidFill>
                  <a:srgbClr val="F1F5F9"/>
                </a:solidFill>
                <a:latin typeface="Noto Sans KR"/>
              </a:rPr>
              <a:t>코스콤</a:t>
            </a:r>
            <a:r>
              <a:rPr sz="1200" b="1" i="0" u="none" dirty="0">
                <a:solidFill>
                  <a:srgbClr val="F1F5F9"/>
                </a:solidFill>
                <a:latin typeface="Noto Sans KR"/>
              </a:rPr>
              <a:t> AI </a:t>
            </a:r>
            <a:r>
              <a:rPr sz="1200" b="1" i="0" u="none" dirty="0" err="1">
                <a:solidFill>
                  <a:srgbClr val="F1F5F9"/>
                </a:solidFill>
                <a:latin typeface="Noto Sans KR"/>
              </a:rPr>
              <a:t>분야</a:t>
            </a:r>
            <a:endParaRPr sz="1200" b="1" i="0" u="none" dirty="0">
              <a:solidFill>
                <a:srgbClr val="F1F5F9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20057" y="4745235"/>
            <a:ext cx="43186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GitHub 저장소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057" y="4954785"/>
            <a:ext cx="43186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Noto Sans KR"/>
              </a:rPr>
              <a:t>github.com/applicant/koscom-ai-financial-agent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4078" y="4745235"/>
            <a:ext cx="29813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Noto Sans KR"/>
              </a:rPr>
              <a:t>핵심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4078" y="4954785"/>
            <a:ext cx="29813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2C55E"/>
                </a:solidFill>
                <a:latin typeface="Noto Sans KR"/>
              </a:rPr>
              <a:t>Recall@k 93.3% · Latency 420ms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19775"/>
            <a:ext cx="10972800" cy="50482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31318"/>
            <a:ext cx="3530649" cy="1671637"/>
          </a:xfrm>
          <a:prstGeom prst="roundRect">
            <a:avLst>
              <a:gd name="adj" fmla="val 45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931318"/>
            <a:ext cx="3530649" cy="1671637"/>
          </a:xfrm>
          <a:prstGeom prst="roundRect">
            <a:avLst>
              <a:gd name="adj" fmla="val 45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931318"/>
            <a:ext cx="3530649" cy="1671637"/>
          </a:xfrm>
          <a:prstGeom prst="roundRect">
            <a:avLst>
              <a:gd name="adj" fmla="val 45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819775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REQUIREMENT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코스콤 AI 채용요건 1:1 매핑 성과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29540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공고에 명시된 자본시장 IT 및 생성형 AI 개발 요건을 100% 코드로 검증했습니다.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9721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Noto Sans KR"/>
              </a:rPr>
              <a:t>핵심 요약: 단편적인 AI 코드가 아닌 "금융 인프라 환경에서 동작하는 프로덕션급 AI 서비스" 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69443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공고 요구사항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398043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금융 규정 RAG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21893"/>
            <a:ext cx="31496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Noto Sans KR"/>
              </a:rPr>
              <a:t>구현: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자본시장 공시 및 금융 규정 문서 BM25 + Vector 하이브리드 검색 및 정확한 출처(Citation) 표기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169443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KR"/>
              </a:rPr>
              <a:t>공고 요구사항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398043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MCP &amp; Tool Calling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693318"/>
            <a:ext cx="31496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Noto Sans KR"/>
              </a:rPr>
              <a:t>구현: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Model Context Protocol 기반 금융 지표 계산기, 시세 API 및 DB 연동 멀티모듈 에이전트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169443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Noto Sans KR"/>
              </a:rPr>
              <a:t>공고 요구사항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398043"/>
            <a:ext cx="39019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컨테이너 &amp; 보안 인프라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3721893"/>
            <a:ext cx="31496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Noto Sans KR"/>
              </a:rPr>
              <a:t>구현: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 Dockerfile 단일 명령 실행 패키징, 개인금융정보 마스킹 및 GitHub Actions CI/CD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71775"/>
            <a:ext cx="1097280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5825" y="3924300"/>
            <a:ext cx="104203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048000"/>
            <a:ext cx="2344638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77679" y="3057525"/>
            <a:ext cx="2344638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9533" y="3057525"/>
            <a:ext cx="2344638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387" y="3048000"/>
            <a:ext cx="2344638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763" y="3314700"/>
            <a:ext cx="118616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617" y="3314700"/>
            <a:ext cx="118616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471" y="3314700"/>
            <a:ext cx="118616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구현 시스템 아키텍처 및 파이프라인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382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Noto Sans KR"/>
              </a:rPr>
              <a:t>사용자 질문 입력부터 MCP 라우팅, 검색, 연산, 출처 검증까지의 엔드투엔드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30968" y="4048125"/>
            <a:ext cx="12453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Noto Sans KR"/>
              </a:rPr>
              <a:t>보안 및 모니터링 레이어:</a:t>
            </a:r>
            <a:r>
              <a:rPr sz="1050" b="0" i="0" u="none">
                <a:solidFill>
                  <a:srgbClr val="475569"/>
                </a:solidFill>
                <a:latin typeface="Noto Sans KR"/>
              </a:rPr>
              <a:t> API Key Shielding · Masking Engine · Prometheus/Log Logger · Docker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34075"/>
            <a:ext cx="6738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Noto Sans KR"/>
              </a:rPr>
              <a:t>핵심 프레임워크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3150"/>
            <a:ext cx="6738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Noto Sans KR"/>
              </a:rPr>
              <a:t>LangChain, LlamaIndex, FastMCP, FastAPI, ChromaDB,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93407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Noto Sans KR"/>
              </a:rPr>
              <a:t>대상 데이터셋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6153150"/>
            <a:ext cx="6000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Noto Sans KR"/>
              </a:rPr>
              <a:t>자본시장 관련 법률, 상장기업 공시 서식 규정, 금융위원회 가이드라인 50개 문서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057" y="3219450"/>
            <a:ext cx="250217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Noto Sans KR"/>
              </a:rPr>
              <a:t>1. 사용자 질의 /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057" y="3429000"/>
            <a:ext cx="250217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Noto Sans KR"/>
              </a:rPr>
              <a:t>Streamlit / 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8912" y="3228975"/>
            <a:ext cx="250217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Noto Sans KR"/>
              </a:rPr>
              <a:t>2. MCP Agent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8912" y="3419475"/>
            <a:ext cx="250217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Noto Sans KR"/>
              </a:rPr>
              <a:t>Intent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766" y="3228975"/>
            <a:ext cx="250217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Noto Sans KR"/>
              </a:rPr>
              <a:t>3. Hybrid RAG &amp;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766" y="3419475"/>
            <a:ext cx="250217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Noto Sans KR"/>
              </a:rPr>
              <a:t>ChromaDB + BM25 + 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2620" y="3219450"/>
            <a:ext cx="250217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6A34A"/>
                </a:solidFill>
                <a:latin typeface="Noto Sans KR"/>
              </a:rPr>
              <a:t>4. 검증 답변 + 출처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2620" y="3429000"/>
            <a:ext cx="250217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Noto Sans KR"/>
              </a:rPr>
              <a:t>Faithfulness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388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52712"/>
            <a:ext cx="5372100" cy="1990725"/>
          </a:xfrm>
          <a:prstGeom prst="roundRect">
            <a:avLst>
              <a:gd name="adj" fmla="val 47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652712"/>
            <a:ext cx="5372100" cy="1990725"/>
          </a:xfrm>
          <a:prstGeom prst="roundRect">
            <a:avLst>
              <a:gd name="adj" fmla="val 47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95600"/>
            <a:ext cx="148232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895600"/>
            <a:ext cx="148232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CORE IMPLEMENTATION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금융 규정 Hybrid RAG &amp; Citation 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2382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Noto Sans KR"/>
              </a:rPr>
              <a:t>조항 단위 정확한 키워드 검색과 의미론적 임베딩 검색을 결합하여 환각 현상을 차단했습니다.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991225"/>
            <a:ext cx="478277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Noto Sans KR"/>
              </a:rPr>
              <a:t>검증 성과: 금융 규정 질의 50건에 대해 근거 오인용 0건 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11531" y="6005512"/>
            <a:ext cx="160046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Consolas"/>
              </a:rPr>
              <a:t>rag/retriever.py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207" y="2890837"/>
            <a:ext cx="35512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Smart Chunking &amp; Hybrid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205162"/>
            <a:ext cx="6119812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· Chunk Strategy: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금융 조항 단위(500 tokens, Overlap 100) Splitter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24250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· Hybrid Retriever: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BM25 (가중치 0.4) + OpenAI text-embedding-3-small (가중치 0.6)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086225"/>
            <a:ext cx="6119812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· Reranking: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Cross-Encoder 기반 상위 Top-k 3개 정밀 추출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1907" y="2890837"/>
            <a:ext cx="22879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Strict Citation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205162"/>
            <a:ext cx="574357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· 출처 명시: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[문서명, 조항번호, 페이지] 자동 인용 부착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524250"/>
            <a:ext cx="574357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· Faithfulness Check: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LLM 응답이 근거 문서 내에 존재하는지 2차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843337"/>
            <a:ext cx="5743575" cy="242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· Unanswered Fallback: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근거 미비 시 "근거 부족" 안전 응답 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053012"/>
            <a:ext cx="10972800" cy="1271587"/>
          </a:xfrm>
          <a:prstGeom prst="roundRect">
            <a:avLst>
              <a:gd name="adj" fmla="val 599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64606"/>
            <a:ext cx="3555950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7950" y="2564606"/>
            <a:ext cx="3555950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564606"/>
            <a:ext cx="3555950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2764631"/>
            <a:ext cx="946398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17975" y="2764631"/>
            <a:ext cx="94639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6325" y="2764631"/>
            <a:ext cx="946398" cy="209550"/>
          </a:xfrm>
          <a:prstGeom prst="roundRect">
            <a:avLst>
              <a:gd name="adj" fmla="val 18181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CORE IMPLEMENTATION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Model Context Protocol (MCP) 기반 도구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382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Noto Sans KR"/>
              </a:rPr>
              <a:t>표준 MCP 프로토콜을 구현하여 금융 연산 및 외부 API 도구를 유연하게 결합했습니다.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5205412"/>
            <a:ext cx="1139190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Consolas"/>
              </a:rPr>
              <a:t># mcp_tools/financial_server.py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429250"/>
            <a:ext cx="1139190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F472B6"/>
                </a:solidFill>
                <a:latin typeface="Consolas"/>
              </a:rPr>
              <a:t>@mcp.tool</a:t>
            </a:r>
            <a:r>
              <a:rPr sz="975" b="0" i="0" u="none">
                <a:solidFill>
                  <a:srgbClr val="38BDF8"/>
                </a:solidFill>
                <a:latin typeface="Consolas"/>
              </a:rPr>
              <a:t>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5614987"/>
            <a:ext cx="1139190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FACC15"/>
                </a:solidFill>
                <a:latin typeface="Consolas"/>
              </a:rPr>
              <a:t>def</a:t>
            </a:r>
            <a:r>
              <a:rPr sz="975" b="0" i="0" u="none">
                <a:solidFill>
                  <a:srgbClr val="38BDF8"/>
                </a:solidFill>
                <a:latin typeface="Consolas"/>
              </a:rPr>
              <a:t> calculate_financial_ratio(net_income: float, equity: float) -&gt; float: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5800725"/>
            <a:ext cx="1120140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2E8F0"/>
                </a:solidFill>
                <a:latin typeface="Consolas"/>
              </a:rPr>
              <a:t>"""Calculate Return on Equity (ROE) safely without rounding errors."""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5986462"/>
            <a:ext cx="1120140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F472B6"/>
                </a:solidFill>
                <a:latin typeface="Consolas"/>
              </a:rPr>
              <a:t>return</a:t>
            </a:r>
            <a:r>
              <a:rPr sz="975" b="0" i="0" u="none">
                <a:solidFill>
                  <a:srgbClr val="E2E8F0"/>
                </a:solidFill>
                <a:latin typeface="Consolas"/>
              </a:rPr>
              <a:t> round((net_income / equity) * 100,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2802731"/>
            <a:ext cx="85114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Noto Sans KR"/>
              </a:rPr>
              <a:t>MCP TOOL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069431"/>
            <a:ext cx="414211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Financial Calculator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345656"/>
            <a:ext cx="3251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Noto Sans KR"/>
              </a:rPr>
              <a:t>PER, PBR, ROE, 부채비율, CAGR 등 정밀 금융 지표 계산 파이썬 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3225" y="2802731"/>
            <a:ext cx="85114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Noto Sans KR"/>
              </a:rPr>
              <a:t>MCP TOOL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975" y="3069431"/>
            <a:ext cx="414211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Market Data Fetcher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975" y="3345656"/>
            <a:ext cx="3251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Noto Sans KR"/>
              </a:rPr>
              <a:t>실시간 증권 시세 API 및 주요 지수(KOSPI, KOSDAQ) 실시간 조회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575" y="2802731"/>
            <a:ext cx="85114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Noto Sans KR"/>
              </a:rPr>
              <a:t>MCP TOOL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325" y="3069431"/>
            <a:ext cx="3965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Disclosure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6325" y="3345656"/>
            <a:ext cx="3251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Noto Sans KR"/>
              </a:rPr>
              <a:t>DART 공시 시스템 open API 연동을 통한 최신 공시보고서 원문 요약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721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63365"/>
            <a:ext cx="5372100" cy="2912268"/>
          </a:xfrm>
          <a:prstGeom prst="roundRect">
            <a:avLst>
              <a:gd name="adj" fmla="val 32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163365"/>
            <a:ext cx="5372100" cy="2912268"/>
          </a:xfrm>
          <a:prstGeom prst="roundRect">
            <a:avLst>
              <a:gd name="adj" fmla="val 32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34270" y="3532882"/>
            <a:ext cx="2438846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18871" y="2858690"/>
            <a:ext cx="1249858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953125"/>
            <a:ext cx="148232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411015"/>
            <a:ext cx="148232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430065"/>
            <a:ext cx="148232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INFRASTRUCTURE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Docker 컨테이너화 및 금융 보안 통제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38250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KR"/>
              </a:rPr>
              <a:t>어느 환경에서나 즉시 실행 가능한 컨테이너 및 보안 수칙을 완벽히 이행했습니다.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157" y="5934075"/>
            <a:ext cx="1060753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Noto Sans KR"/>
              </a:rPr>
              <a:t>검증 완료: 타 시스템 이식성 100% 확보 (Ubuntu / macOS / Windows Docker Desktop 환경 동작 테스트 검증)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401490"/>
            <a:ext cx="6425803" cy="219075"/>
          </a:xfrm>
          <a:prstGeom prst="rect">
            <a:avLst/>
          </a:prstGeom>
          <a:noFill/>
        </p:spPr>
        <p:txBody>
          <a:bodyPr wrap="none" lIns="2244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Docker &amp; CI/CD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401490"/>
            <a:ext cx="5743575" cy="257175"/>
          </a:xfrm>
          <a:prstGeom prst="rect">
            <a:avLst/>
          </a:prstGeom>
          <a:noFill/>
        </p:spPr>
        <p:txBody>
          <a:bodyPr wrap="none" lIns="2244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금융 데이터 보안 준수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753915"/>
            <a:ext cx="499110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334155"/>
                </a:solidFill>
                <a:latin typeface="Noto Sans KR"/>
              </a:rPr>
              <a:t>· Dockerfile 작성: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Multi-stage 빌드로 경량화 이미지 (350MB) 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466207"/>
            <a:ext cx="4991100" cy="620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334155"/>
                </a:solidFill>
                <a:latin typeface="Noto Sans KR"/>
              </a:rPr>
              <a:t>· One-Command Exec: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로 즉시 시연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182367"/>
            <a:ext cx="499110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334155"/>
                </a:solidFill>
                <a:latin typeface="Noto Sans KR"/>
              </a:rPr>
              <a:t>· GitHub Actions: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Commit 마다 pytest 자동 수행 및 CI 통과 배지 획득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792015"/>
            <a:ext cx="4991100" cy="620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334155"/>
                </a:solidFill>
                <a:latin typeface="Noto Sans KR"/>
              </a:rPr>
              <a:t>· API Key Shielding: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만 공개, Secret Key 하드코딩 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508176"/>
            <a:ext cx="499110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334155"/>
                </a:solidFill>
                <a:latin typeface="Noto Sans KR"/>
              </a:rPr>
              <a:t>· PII Masking Engine: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질문 및 답변 내 계좌번호, 주민번호 regex 마스킹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220467"/>
            <a:ext cx="4991100" cy="617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334155"/>
                </a:solidFill>
                <a:latin typeface="Noto Sans KR"/>
              </a:rPr>
              <a:t>· Non-Internal Data: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공공 금융 데이터 및 오픈 API 만 활용하여 보안 문제 원천 차단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0470" y="3551932"/>
            <a:ext cx="289615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1" i="0" u="none">
                <a:solidFill>
                  <a:srgbClr val="0F172A"/>
                </a:solidFill>
                <a:latin typeface="Consolas"/>
              </a:rPr>
              <a:t>docker compose up --build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71" y="2877740"/>
            <a:ext cx="140992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200" b="1" i="0" u="none">
                <a:solidFill>
                  <a:srgbClr val="0F172A"/>
                </a:solidFill>
                <a:latin typeface="Consolas"/>
              </a:rPr>
              <a:t>.env.example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388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38462"/>
            <a:ext cx="26289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2938462"/>
            <a:ext cx="26289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2938462"/>
            <a:ext cx="26289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2938462"/>
            <a:ext cx="2628900" cy="1219200"/>
          </a:xfrm>
          <a:prstGeom prst="roundRect">
            <a:avLst>
              <a:gd name="adj" fmla="val 78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BENCHMARK &amp;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30개 정량 평가셋 검증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2382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Noto Sans KR"/>
              </a:rPr>
              <a:t>실제 평가 질의 30개를 수립하고 정량 지표(Recall, Faithfulness, Latency, Cost)를 측정했습니다.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5800725"/>
            <a:ext cx="1066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Noto Sans KR"/>
              </a:rPr>
              <a:t>오류 분석 (Error Analysis):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실패 2건은 complex numerical query 사례로, 3주차에 MCP 연산 도구 호출 로직을 보완하여 최종 성능을 개선하였습니다. 저장소 내 evaluation/metrics.json에서 전체 로그 확인 가능합니다.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018" y="3138487"/>
            <a:ext cx="278606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2563EB"/>
                </a:solidFill>
                <a:latin typeface="Noto Sans KR"/>
              </a:rPr>
              <a:t>93.3%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018" y="3586162"/>
            <a:ext cx="278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Noto Sans KR"/>
              </a:rPr>
              <a:t>Recall @ Top-3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018" y="3786187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관련 금융 조항 검색 정확도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2318" y="3138487"/>
            <a:ext cx="278606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0284C7"/>
                </a:solidFill>
                <a:latin typeface="Noto Sans KR"/>
              </a:rPr>
              <a:t>96.7%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2318" y="3586162"/>
            <a:ext cx="278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Noto Sans KR"/>
              </a:rPr>
              <a:t>Faithfulness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2318" y="3786187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근거 일치도 (할루시네이션 방지)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3618" y="3138487"/>
            <a:ext cx="278606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0D9488"/>
                </a:solidFill>
                <a:latin typeface="Noto Sans KR"/>
              </a:rPr>
              <a:t>420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3618" y="3586162"/>
            <a:ext cx="278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Noto Sans KR"/>
              </a:rPr>
              <a:t>Avg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3618" y="3786187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질의 처리 속도 (RAG+MCP)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4918" y="3138487"/>
            <a:ext cx="278606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16A34A"/>
                </a:solidFill>
                <a:latin typeface="Noto Sans KR"/>
              </a:rPr>
              <a:t>$0.002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4918" y="3586162"/>
            <a:ext cx="278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Noto Sans KR"/>
              </a:rPr>
              <a:t>Cost /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4918" y="3786187"/>
            <a:ext cx="278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건당 토큰 트랜잭션 비용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24550"/>
            <a:ext cx="10972800" cy="400050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66937"/>
            <a:ext cx="6000750" cy="30480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9625" y="3030438"/>
            <a:ext cx="5600700" cy="55245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9625" y="3951089"/>
            <a:ext cx="5600700" cy="5810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9625" y="3951089"/>
            <a:ext cx="28575" cy="5810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15150" y="2652712"/>
            <a:ext cx="4667250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15150" y="3767137"/>
            <a:ext cx="4667250" cy="962025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02473" y="2366962"/>
            <a:ext cx="907851" cy="1714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395537"/>
            <a:ext cx="103733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2852737"/>
            <a:ext cx="118616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3967162"/>
            <a:ext cx="118616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USER INTERFACE &amp;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Streamlit 시연 화면 및 동작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2382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Noto Sans KR"/>
              </a:rPr>
              <a:t>실제 코스콤 현업 직원이 사용할 수 있는 직관적인 웹 대시보드를 구축했습니다.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61937" y="6038850"/>
            <a:ext cx="1271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40AF"/>
                </a:solidFill>
                <a:latin typeface="Noto Sans KR"/>
              </a:rPr>
              <a:t>데모 영상 URL: https://youtu.be/koscom-ai-demo-sample (2분 분량, HD 1080p)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144738"/>
            <a:ext cx="54673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Noto Sans KR"/>
              </a:rPr>
              <a:t>"자본시장법상 불공정거래 행위 금지 조항과 관련 상장사 PBR 계산해줘."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065389"/>
            <a:ext cx="54673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E2E8F0"/>
                </a:solidFill>
                <a:latin typeface="Noto Sans KR"/>
              </a:rPr>
              <a:t>"미공개중요정보 이용행위는 금지되며, 해당 기업 PBR은 </a:t>
            </a:r>
            <a:r>
              <a:rPr sz="975" b="1" i="0" u="none">
                <a:solidFill>
                  <a:srgbClr val="E2E8F0"/>
                </a:solidFill>
                <a:latin typeface="Noto Sans KR"/>
              </a:rPr>
              <a:t>1.24</a:t>
            </a:r>
            <a:r>
              <a:rPr sz="975" b="0" i="0" u="none">
                <a:solidFill>
                  <a:srgbClr val="E2E8F0"/>
                </a:solidFill>
                <a:latin typeface="Noto Sans KR"/>
              </a:rPr>
              <a:t> 입니다."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376487"/>
            <a:ext cx="3149389" cy="152400"/>
          </a:xfrm>
          <a:prstGeom prst="rect">
            <a:avLst/>
          </a:prstGeom>
          <a:noFill/>
        </p:spPr>
        <p:txBody>
          <a:bodyPr wrap="none" lIns="160883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Noto Sans KR"/>
              </a:rPr>
              <a:t>KOSCOM Financial Agent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8673" y="2386012"/>
            <a:ext cx="85070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22C55E"/>
                </a:solidFill>
                <a:latin typeface="Noto Sans KR"/>
              </a:rPr>
              <a:t>● Agent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144738"/>
            <a:ext cx="6715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Noto Sans KR"/>
              </a:rPr>
              <a:t>User Prompt: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4065389"/>
            <a:ext cx="66794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8BDF8"/>
                </a:solidFill>
                <a:latin typeface="Noto Sans KR"/>
              </a:rPr>
              <a:t>Agent Response [Citation: 자본시장법 제174조]: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4900314"/>
            <a:ext cx="10254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Noto Sans KR"/>
              </a:rPr>
              <a:t>Latency: 380ms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3600" y="4900314"/>
            <a:ext cx="152158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Noto Sans KR"/>
              </a:rPr>
              <a:t>Tool: Calculator, VectorDB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5166" y="4900314"/>
            <a:ext cx="11769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Noto Sans KR"/>
              </a:rPr>
              <a:t>Faithfulness: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6125" y="2833687"/>
            <a:ext cx="5095875" cy="200025"/>
          </a:xfrm>
          <a:prstGeom prst="rect">
            <a:avLst/>
          </a:prstGeom>
          <a:noFill/>
        </p:spPr>
        <p:txBody>
          <a:bodyPr wrap="none" lIns="194816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Noto Sans KR"/>
              </a:rPr>
              <a:t>2분 데모 영상 시연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6125" y="3090862"/>
            <a:ext cx="4400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Noto Sans KR"/>
              </a:rPr>
              <a:t>주요 기능 동작 과정 및 예외 처리 구동 영상을 GitHub README 및 YouTube 링크로 첨부했습니다.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6125" y="3948112"/>
            <a:ext cx="5095875" cy="200025"/>
          </a:xfrm>
          <a:prstGeom prst="rect">
            <a:avLst/>
          </a:prstGeom>
          <a:noFill/>
        </p:spPr>
        <p:txBody>
          <a:bodyPr wrap="none" lIns="194816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Noto Sans KR"/>
              </a:rPr>
              <a:t>RESTful API 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6125" y="4205287"/>
            <a:ext cx="4400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Noto Sans KR"/>
              </a:rPr>
              <a:t>FastAPI 엔드포인트(/api/v1/query) 제공으로 기존 코스콤 사내 시스템 연동 용이성을 확보했습니다.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09862"/>
            <a:ext cx="53911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09862"/>
            <a:ext cx="53911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67037"/>
            <a:ext cx="133498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967037"/>
            <a:ext cx="133498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367087"/>
            <a:ext cx="103733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633787"/>
            <a:ext cx="103733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900487"/>
            <a:ext cx="103733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167187"/>
            <a:ext cx="103733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367087"/>
            <a:ext cx="103733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633787"/>
            <a:ext cx="103733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900487"/>
            <a:ext cx="103733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4167187"/>
            <a:ext cx="103733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SUBMISSION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과제 필수 제출물 완성 점검표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2382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Noto Sans KR"/>
              </a:rPr>
              <a:t>과제 제출 가이드상의 8가지 필수 요건을 모두 충족하였음을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55984" y="6000750"/>
            <a:ext cx="12703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40AF"/>
                </a:solidFill>
                <a:latin typeface="Noto Sans KR"/>
              </a:rPr>
              <a:t>제출 상태: 기한 내 완벽 제출 준비 완료 (GitHub Repo &amp; PDF 발표 자료)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947987"/>
            <a:ext cx="6450806" cy="219075"/>
          </a:xfrm>
          <a:prstGeom prst="rect">
            <a:avLst/>
          </a:prstGeom>
          <a:noFill/>
        </p:spPr>
        <p:txBody>
          <a:bodyPr wrap="none" lIns="209698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Noto Sans KR"/>
              </a:rPr>
              <a:t>저장소 및 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2947987"/>
            <a:ext cx="5762625" cy="219075"/>
          </a:xfrm>
          <a:prstGeom prst="rect">
            <a:avLst/>
          </a:prstGeom>
          <a:noFill/>
        </p:spPr>
        <p:txBody>
          <a:bodyPr wrap="none" lIns="209698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Noto Sans KR"/>
              </a:rPr>
              <a:t>평가 및 시연 자료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300412"/>
            <a:ext cx="6143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GitHub Public Repo: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저장소 공개 설정 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567112"/>
            <a:ext cx="6143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README.md: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코스콤 채용공고 1:1 매핑표 수록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833812"/>
            <a:ext cx="6143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Dockerfile: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단일 명령 실행 가이드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100512"/>
            <a:ext cx="6143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라이선스: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활용 금융 데이터 출처 명시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300412"/>
            <a:ext cx="5762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시연 영상: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2분 이내 핵심 기능 구동 영상 포함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3567112"/>
            <a:ext cx="5762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metrics.json: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30개 평가 질문 로그 수록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9375" y="3833812"/>
            <a:ext cx="5762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CI Pass Badge: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pytest 및 GitHub Actions 성공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4100512"/>
            <a:ext cx="5762625" cy="266700"/>
          </a:xfrm>
          <a:prstGeom prst="rect">
            <a:avLst/>
          </a:prstGeom>
          <a:noFill/>
        </p:spPr>
        <p:txBody>
          <a:bodyPr wrap="none" lIns="179933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1페이지 기술 회고: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기술 한계 및 발전 계획 작성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71787"/>
            <a:ext cx="5391150" cy="1571625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71787"/>
            <a:ext cx="5391150" cy="1571625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38487"/>
            <a:ext cx="126057" cy="161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138487"/>
            <a:ext cx="126057" cy="161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Noto Sans KR"/>
              </a:rPr>
              <a:t>ENGINEERING RETROSPECTIVE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기술 문제 해결 성과 및 입사 후 발전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2382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Noto Sans KR"/>
              </a:rPr>
              <a:t>과제 수행 중 만난 주요 기술 이슈 극복 과정과 코스콤에서의 확장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5984" y="6000750"/>
            <a:ext cx="12703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34155"/>
                </a:solidFill>
                <a:latin typeface="Noto Sans KR"/>
              </a:rPr>
              <a:t>성장 다짐: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코스콤 자본시장 IT 혁신을 이끄는 실전형 AI 엔지니어로 기여하겠습니다.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09912"/>
            <a:ext cx="6450806" cy="219075"/>
          </a:xfrm>
          <a:prstGeom prst="rect">
            <a:avLst/>
          </a:prstGeom>
          <a:noFill/>
        </p:spPr>
        <p:txBody>
          <a:bodyPr wrap="none" lIns="202257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563EB"/>
                </a:solidFill>
                <a:latin typeface="Noto Sans KR"/>
              </a:rPr>
              <a:t>해결한 기술 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424237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문제: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복잡한 금융 수식 질의 시 RAG 답변에서 숫자가 왜곡되는 문제 발생.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48087"/>
            <a:ext cx="501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Noto Sans KR"/>
              </a:rPr>
              <a:t>해결:</a:t>
            </a:r>
            <a:r>
              <a:rPr sz="1125" b="0" i="0" u="none">
                <a:solidFill>
                  <a:srgbClr val="334155"/>
                </a:solidFill>
                <a:latin typeface="Noto Sans KR"/>
              </a:rPr>
              <a:t> MCP Calculator Tool Calling 라우팅을 강제하여 LLM 추론 대신 확정적 연산기를 거치도록 수정함으로써 오류율 0% 달성.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109912"/>
            <a:ext cx="5762625" cy="219075"/>
          </a:xfrm>
          <a:prstGeom prst="rect">
            <a:avLst/>
          </a:prstGeom>
          <a:noFill/>
        </p:spPr>
        <p:txBody>
          <a:bodyPr wrap="none" lIns="202257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6A34A"/>
                </a:solidFill>
                <a:latin typeface="Noto Sans KR"/>
              </a:rPr>
              <a:t>코스콤 입사 후 확장 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424237"/>
            <a:ext cx="50101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· 온프레미스 LLM 전환: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보안 강화를 위한 vLLM 기반 금융 특화 소형 언어모델(sLLM) 파인튜닝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904059"/>
            <a:ext cx="57626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Noto Sans KR"/>
              </a:rPr>
              <a:t>· 초고속 처리:</a:t>
            </a:r>
            <a:r>
              <a:rPr sz="1050" b="0" i="0" u="none">
                <a:solidFill>
                  <a:srgbClr val="334155"/>
                </a:solidFill>
                <a:latin typeface="Noto Sans KR"/>
              </a:rPr>
              <a:t> C++ 기반 자본시장 시세 엔진과의 MCP IPC 고성능 소켓 연동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86461" y="1858416"/>
            <a:ext cx="2619077" cy="3143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58294" y="4199483"/>
            <a:ext cx="5675262" cy="8001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49576" y="1934616"/>
            <a:ext cx="289284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Noto Sans KR"/>
              </a:rPr>
              <a:t>THANK YOU FOR YOUR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281" y="2401341"/>
            <a:ext cx="11501437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Noto Sans KR"/>
              </a:rPr>
              <a:t>"증명된 코드로 </a:t>
            </a:r>
            <a:r>
              <a:rPr sz="3150" b="1" i="0" u="none">
                <a:solidFill>
                  <a:srgbClr val="38BDF8"/>
                </a:solidFill>
                <a:latin typeface="Noto Sans KR"/>
              </a:rPr>
              <a:t>코스콤 AI의 미래</a:t>
            </a:r>
            <a:r>
              <a:rPr sz="3150" b="1" i="0" u="none">
                <a:solidFill>
                  <a:srgbClr val="F8FAFC"/>
                </a:solidFill>
                <a:latin typeface="Noto Sans KR"/>
              </a:rPr>
              <a:t>를 함께 만들겠습니다."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8178" y="3551783"/>
            <a:ext cx="829549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Noto Sans KR"/>
              </a:rPr>
              <a:t>2026년 하반기 코스콤 신입 AI 분야 지원자 홍길동 · 포트폴리오 과제 제출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7042" y="4399508"/>
            <a:ext cx="611776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Noto Sans KR"/>
              </a:rPr>
              <a:t>GitHub Repository: github.com/applicant/koscom-ai-financial-agent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7042" y="4628108"/>
            <a:ext cx="611776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Noto Sans KR"/>
              </a:rPr>
              <a:t>질의응답 및 추가 검증 요구사항에 대해 상세히 답변드리겠습니다.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1224</Words>
  <Application>Microsoft Office PowerPoint</Application>
  <PresentationFormat>와이드스크린</PresentationFormat>
  <Paragraphs>145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Consolas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2026-09-21T00:46:01Z</dcterms:modified>
  <cp:category/>
</cp:coreProperties>
</file>